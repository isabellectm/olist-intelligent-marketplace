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53419" autoAdjust="0"/>
  </p:normalViewPr>
  <p:slideViewPr>
    <p:cSldViewPr snapToGrid="0" snapToObjects="1">
      <p:cViewPr varScale="1">
        <p:scale>
          <a:sx n="33" d="100"/>
          <a:sy n="33" d="100"/>
        </p:scale>
        <p:origin x="18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22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Boa noite, meu nome é Isabelle e eu estou de volta para apresentar a fase 2 do projeto de consultoria de Marketplace Inteligente da Olist, após a aprovação da primeira fase.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0:00–0:40 A</a:t>
            </a:r>
            <a:r>
              <a:rPr lang="pt-BR" dirty="0"/>
              <a:t>pós a avaliação e feedback da fase 1, na evolução do projeto, nós s</a:t>
            </a:r>
            <a:r>
              <a:rPr dirty="0" err="1"/>
              <a:t>aímos</a:t>
            </a:r>
            <a:r>
              <a:rPr dirty="0"/>
              <a:t> de </a:t>
            </a:r>
            <a:r>
              <a:rPr lang="pt-BR" dirty="0"/>
              <a:t>um cenário com </a:t>
            </a:r>
            <a:r>
              <a:rPr dirty="0" err="1"/>
              <a:t>quatro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para </a:t>
            </a:r>
            <a:r>
              <a:rPr dirty="0" err="1"/>
              <a:t>três</a:t>
            </a:r>
            <a:r>
              <a:rPr lang="pt-BR" dirty="0"/>
              <a:t> agentes focando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programas</a:t>
            </a:r>
            <a:r>
              <a:rPr lang="pt-BR" dirty="0"/>
              <a:t> principais.</a:t>
            </a:r>
            <a:br>
              <a:rPr lang="pt-BR" dirty="0"/>
            </a:br>
            <a:r>
              <a:rPr lang="pt-BR" dirty="0"/>
              <a:t>O primeiro programa foi denominado Proteger a Experiência e o segundo, Ouvir e Crescer.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0:40–1:20 — </a:t>
            </a:r>
            <a:r>
              <a:rPr lang="pt-BR" dirty="0"/>
              <a:t>Os t</a:t>
            </a:r>
            <a:r>
              <a:rPr dirty="0" err="1"/>
              <a:t>rês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 da Fase 1, </a:t>
            </a:r>
            <a:r>
              <a:rPr dirty="0" err="1"/>
              <a:t>ainda</a:t>
            </a:r>
            <a:r>
              <a:rPr lang="pt-BR" dirty="0"/>
              <a:t> são</a:t>
            </a:r>
            <a:r>
              <a:rPr dirty="0"/>
              <a:t> </a:t>
            </a:r>
            <a:r>
              <a:rPr dirty="0" err="1"/>
              <a:t>válidos</a:t>
            </a:r>
            <a:r>
              <a:rPr lang="pt-BR" dirty="0"/>
              <a:t> para a fase 2</a:t>
            </a:r>
            <a:r>
              <a:rPr dirty="0"/>
              <a:t>.</a:t>
            </a:r>
            <a:r>
              <a:rPr lang="pt-BR" dirty="0"/>
              <a:t> Não houve reavaliação de dados.</a:t>
            </a:r>
          </a:p>
          <a:p>
            <a:r>
              <a:rPr lang="pt-BR" dirty="0"/>
              <a:t>Apenas recapitulando o que foi levantado:</a:t>
            </a:r>
          </a:p>
          <a:p>
            <a:r>
              <a:rPr lang="pt-BR" dirty="0"/>
              <a:t>1. No contexto de logística, quase 97% dos pedidos são entregues, mas 6,8% desses pedidos atrasam e a nota média de avaliação cai de 4,3 para 2,6 pontos. Mais da metade dos pedidos atrasados recebe nota 1 ou 2.</a:t>
            </a:r>
          </a:p>
          <a:p>
            <a:r>
              <a:rPr lang="pt-BR" dirty="0"/>
              <a:t>2. No cenário de voz do cliente, 15% das avaliações são ruins e 4 a cada 10 avaliações possuem texto. O feedback pouco usado em escala no marketplace.</a:t>
            </a:r>
          </a:p>
          <a:p>
            <a:r>
              <a:rPr lang="pt-BR" dirty="0"/>
              <a:t>3. Por último, para relacionamento, foi levantado que 97% dos clientes compram uma única vez. Esse cenário mostra que o crescimento do marketplace é voltado em obter cliente novo.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1:20–2:40 — </a:t>
            </a:r>
            <a:r>
              <a:rPr lang="pt-BR" dirty="0"/>
              <a:t>Os t</a:t>
            </a:r>
            <a:r>
              <a:rPr dirty="0" err="1"/>
              <a:t>rês</a:t>
            </a:r>
            <a:r>
              <a:rPr dirty="0"/>
              <a:t> </a:t>
            </a:r>
            <a:r>
              <a:rPr dirty="0" err="1"/>
              <a:t>agentes</a:t>
            </a:r>
            <a:r>
              <a:rPr lang="pt-BR" dirty="0"/>
              <a:t> mantidos são</a:t>
            </a:r>
            <a:br>
              <a:rPr lang="pt-BR" dirty="0"/>
            </a:br>
            <a:r>
              <a:rPr lang="pt-BR" dirty="0"/>
              <a:t>Experiência de Entrega, no contexto de logística e agora esse agente engloba os fluxos de prazo e exceção em uma única jornada.</a:t>
            </a:r>
          </a:p>
          <a:p>
            <a:r>
              <a:rPr lang="pt-BR" dirty="0"/>
              <a:t>Esse agente entra no programa 1, Proteger a Experiência.</a:t>
            </a:r>
            <a:endParaRPr dirty="0"/>
          </a:p>
          <a:p>
            <a:pPr lvl="0"/>
            <a:r>
              <a:rPr dirty="0"/>
              <a:t>P</a:t>
            </a:r>
            <a:r>
              <a:rPr lang="pt-BR" dirty="0"/>
              <a:t>ara o p</a:t>
            </a:r>
            <a:r>
              <a:rPr dirty="0" err="1"/>
              <a:t>rograma</a:t>
            </a:r>
            <a:r>
              <a:rPr dirty="0"/>
              <a:t> 2</a:t>
            </a:r>
            <a:r>
              <a:rPr lang="pt-BR" dirty="0"/>
              <a:t>, Ouvir e Crescer, entram os agentes de Inteligência de Avaliações e Relacionamento e Recompra.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Os agentes se comunicam da seguinte forma:</a:t>
            </a:r>
            <a:br>
              <a:rPr lang="pt-BR" dirty="0"/>
            </a:br>
            <a:r>
              <a:rPr lang="pt-BR" dirty="0"/>
              <a:t>Se entra uma 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eview de atraso → O agente de Experiência da Entrega é acionado na trilha de prazo.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dirty="0"/>
              <a:t>Se entra uma 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eview de pedido cancelado ou indisponível → O agente de Experiência da Entrega  entra trilha exceção.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é feita uma boa entrega com avalição de nota 4 ou 5 → O pedido entra na fila de Recompra.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diretoria consegue visualizar um painel semanal geral com percentual de atraso, temas de review e clientes elegíveis a recompra.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2:40–3:30 — </a:t>
            </a:r>
            <a:r>
              <a:rPr lang="pt-BR" dirty="0"/>
              <a:t>A principal mudança foi a criação da jornada de experiência da entrega apresentando as trilhas de </a:t>
            </a:r>
            <a:r>
              <a:rPr dirty="0" err="1"/>
              <a:t>prazo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exceção</a:t>
            </a:r>
            <a:r>
              <a:rPr dirty="0"/>
              <a:t>. 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decisão-chave do agente é a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trilha pela qual ele vai seguir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rilha de Prazo: uma ação deve ser tomada entre monitorar, avisar, cobrar.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na trilha de Exceção, a prioridade e a exceção são definidas e o próximo passo deve ser realizado pelo humano.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ambos os caminhos, uma pessoa deve confirmar a ação.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3:30–4:20 —</a:t>
            </a:r>
            <a:r>
              <a:rPr lang="pt-BR" dirty="0"/>
              <a:t> Vamos lidar com um 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Pedido ilustrativo OL-1001 de um cliente no RJ, com status enviado e o prazo de entrega pra amanhã.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gatilho pro agente é o prazo da entrega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 time de logística abre o caso. O agente de Experiência da Entrega vai ler o pedido, as datas e o estado. 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caso segue na trilha de prazo. O risco alto, porque RJ atrasa mais que a média dos outros estados.</a:t>
            </a: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ação nesse caso é avisar o cliente, o operador já recebe texto pronto, mas quem envia o aviso é o humano.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Ninguém muda rota do pedido, nem promete data nova pro cliente.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4:20–5:00 </a:t>
            </a:r>
            <a:endParaRPr lang="pt-BR" dirty="0"/>
          </a:p>
          <a:p>
            <a:r>
              <a:rPr lang="pt-BR" dirty="0"/>
              <a:t>Pra nova proposta dessa fase, fica o pedido de validação da proposta nova com os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agentes</a:t>
            </a:r>
            <a:r>
              <a:rPr lang="pt-BR" dirty="0"/>
              <a:t> distribuídos em dois programa</a:t>
            </a:r>
            <a:r>
              <a:rPr dirty="0"/>
              <a:t>. </a:t>
            </a:r>
            <a:endParaRPr lang="pt-BR" dirty="0"/>
          </a:p>
          <a:p>
            <a:r>
              <a:rPr lang="pt-BR" dirty="0"/>
              <a:t>Para a p</a:t>
            </a:r>
            <a:r>
              <a:rPr dirty="0" err="1"/>
              <a:t>róxima</a:t>
            </a:r>
            <a:r>
              <a:rPr dirty="0"/>
              <a:t> </a:t>
            </a:r>
            <a:r>
              <a:rPr dirty="0" err="1"/>
              <a:t>fase</a:t>
            </a:r>
            <a:r>
              <a:rPr lang="pt-BR" dirty="0"/>
              <a:t>, será possível passar para a prototipação do projeto, começando por entrega, voz do cliente e recompra seletiva. Obrigada.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1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ED145B"/>
                </a:solidFill>
                <a:latin typeface="Arial"/>
              </a:rPr>
              <a:t>FIAP  |  PÓS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OLIST INTELLIGENT</a:t>
            </a:r>
          </a:p>
          <a:p>
            <a:pPr algn="l">
              <a:spcAft>
                <a:spcPts val="1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60520"/>
            <a:ext cx="1280160" cy="508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>
                <a:solidFill>
                  <a:srgbClr val="B3B3B3"/>
                </a:solidFill>
                <a:latin typeface="Arial"/>
              </a:rPr>
              <a:t>Consultoria de IA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agêntica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 ·  Fase 2  · 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Diretoria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Olist</a:t>
            </a:r>
            <a:endParaRPr lang="pt-BR" sz="1800" b="0" i="0" dirty="0">
              <a:solidFill>
                <a:srgbClr val="B3B3B3"/>
              </a:solidFill>
              <a:latin typeface="Arial"/>
            </a:endParaRPr>
          </a:p>
          <a:p>
            <a:r>
              <a:rPr lang="pt-BR" dirty="0">
                <a:solidFill>
                  <a:srgbClr val="B3B3B3"/>
                </a:solidFill>
                <a:latin typeface="Arial"/>
              </a:rPr>
              <a:t>Isabelle Cristina Teixeira de Menezes · RM375070</a:t>
            </a:r>
          </a:p>
          <a:p>
            <a:pPr algn="l"/>
            <a:endParaRPr sz="1800" b="0" i="0" dirty="0">
              <a:solidFill>
                <a:srgbClr val="B3B3B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EVOLUÇÃO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858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Como os agentes interagem com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usuários, dados e processos.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Visão e quatro agentes.
Feedback: priorizar, enxugar
e aglutinar por sinergia.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6888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49377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Dois programas.
Três agentes.
Jornada, regra e dono.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TRÊS NÚMEROS QUE CONTINUAM NO CENTRO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 dado não mudou. O recorte ficou mais curto.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01  ·  LOGÍSTICA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3B3B3"/>
                </a:solidFill>
                <a:latin typeface="Arial"/>
              </a:rPr>
              <a:t>atrasam — e nesses a nota cai de 4,3 para 2,6.
Mais da metade dos atrasados dá nota 1 ou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02  ·  VOZ DO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3B3B3"/>
                </a:solidFill>
                <a:latin typeface="Arial"/>
              </a:rPr>
              <a:t>das avaliações são ruins.
4 em 10 vêm com texto.
Ainda pouco usado em escala.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03  ·  RELACIONAMENTO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3B3B3"/>
                </a:solidFill>
                <a:latin typeface="Arial"/>
              </a:rPr>
              <a:t>dos clientes compram uma vez.
Crescimento quase todo em cliente novo.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DOIS PROGRAMAS  ·  TRÊS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Prazo e exceção no mesmo ofício. Pessoa executa.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35844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1179576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417320"/>
            <a:ext cx="33284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Experiência da 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039112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LOGÍSTICA E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276856"/>
            <a:ext cx="33284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Trilha prazo ou exceção. Uma ação. Financeiro com o humano.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0515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8536" y="1051560"/>
            <a:ext cx="35844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179576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17320"/>
            <a:ext cx="33284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Inteligência de Avaliações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39112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276856"/>
            <a:ext cx="33284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Lê nota e texto, classifica, rascunha. Prazo chama entrega.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0515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74152" y="1051560"/>
            <a:ext cx="35844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0456" y="1179576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1417320"/>
            <a:ext cx="33284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Relacionamento e Recompra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039112"/>
            <a:ext cx="33284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276856"/>
            <a:ext cx="33284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Só quem teve boa entrega e nota 4–5.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57600"/>
            <a:ext cx="11155680" cy="24688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COMO ELES SE FALAM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105156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Review de atraso chama Experiência da Entrega. Recompra não fala com quem foi mal atendido. Exceção deixou de ser o quarto produto: é um ramo do mesmo fluxo.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JORNADA — EXPERIÊNCIA DA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Gatilho → trilha → uma ação → humano.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2B9BF-4652-A30E-2C27-34542D82383F}"/>
              </a:ext>
            </a:extLst>
          </p:cNvPr>
          <p:cNvSpPr/>
          <p:nvPr/>
        </p:nvSpPr>
        <p:spPr>
          <a:xfrm>
            <a:off x="777833" y="1365950"/>
            <a:ext cx="188916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Gatilho: status do pedido ou prazo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4371-31DD-6CD3-BA13-CEF1E4C885CC}"/>
              </a:ext>
            </a:extLst>
          </p:cNvPr>
          <p:cNvSpPr/>
          <p:nvPr/>
        </p:nvSpPr>
        <p:spPr>
          <a:xfrm>
            <a:off x="777833" y="2560773"/>
            <a:ext cx="188916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Entrada: pedido, datas, UF, status, valor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5EDC48-8ACB-42D4-073F-B07CEBF4D6C8}"/>
              </a:ext>
            </a:extLst>
          </p:cNvPr>
          <p:cNvSpPr/>
          <p:nvPr/>
        </p:nvSpPr>
        <p:spPr>
          <a:xfrm>
            <a:off x="777833" y="3755596"/>
            <a:ext cx="188916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Agente classifica a trilha</a:t>
            </a:r>
            <a:endParaRPr lang="en-US" sz="1400" dirty="0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FC3B3624-EE76-FDFB-E9A1-92EF0E22158D}"/>
              </a:ext>
            </a:extLst>
          </p:cNvPr>
          <p:cNvSpPr/>
          <p:nvPr/>
        </p:nvSpPr>
        <p:spPr>
          <a:xfrm>
            <a:off x="3295105" y="3466618"/>
            <a:ext cx="1730829" cy="1360586"/>
          </a:xfrm>
          <a:prstGeom prst="diamond">
            <a:avLst/>
          </a:prstGeom>
          <a:solidFill>
            <a:srgbClr val="ED14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Prazo ou Exceção?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FCE826-804F-28FF-73ED-C77050FC7EE5}"/>
              </a:ext>
            </a:extLst>
          </p:cNvPr>
          <p:cNvSpPr/>
          <p:nvPr/>
        </p:nvSpPr>
        <p:spPr>
          <a:xfrm>
            <a:off x="3215935" y="2012632"/>
            <a:ext cx="188916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Decide risco: baixo, médio, alto</a:t>
            </a:r>
            <a:endParaRPr lang="en-US" sz="1400" dirty="0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648DC7B-B463-E415-26F3-9D3775AA82AA}"/>
              </a:ext>
            </a:extLst>
          </p:cNvPr>
          <p:cNvSpPr/>
          <p:nvPr/>
        </p:nvSpPr>
        <p:spPr>
          <a:xfrm>
            <a:off x="5654037" y="1723654"/>
            <a:ext cx="1730829" cy="1360586"/>
          </a:xfrm>
          <a:prstGeom prst="diamond">
            <a:avLst/>
          </a:prstGeom>
          <a:solidFill>
            <a:srgbClr val="ED14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Uma ação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1BAE43-3639-DD66-2FA7-E9BCA7DADB7A}"/>
              </a:ext>
            </a:extLst>
          </p:cNvPr>
          <p:cNvSpPr/>
          <p:nvPr/>
        </p:nvSpPr>
        <p:spPr>
          <a:xfrm>
            <a:off x="7818120" y="1013059"/>
            <a:ext cx="1434737" cy="735822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Monitorar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FAE1BE-3A9F-FA26-271F-A709C11A601B}"/>
              </a:ext>
            </a:extLst>
          </p:cNvPr>
          <p:cNvSpPr/>
          <p:nvPr/>
        </p:nvSpPr>
        <p:spPr>
          <a:xfrm>
            <a:off x="7818119" y="2030877"/>
            <a:ext cx="1434737" cy="735822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Avisar cliente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1418A7-8201-062F-D08A-CBF3B4916667}"/>
              </a:ext>
            </a:extLst>
          </p:cNvPr>
          <p:cNvSpPr/>
          <p:nvPr/>
        </p:nvSpPr>
        <p:spPr>
          <a:xfrm>
            <a:off x="7818120" y="3043720"/>
            <a:ext cx="1434737" cy="735822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Cobrar logística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7A517A-43D7-4102-FC4B-C5F41EA20B07}"/>
              </a:ext>
            </a:extLst>
          </p:cNvPr>
          <p:cNvSpPr/>
          <p:nvPr/>
        </p:nvSpPr>
        <p:spPr>
          <a:xfrm>
            <a:off x="3215935" y="5498560"/>
            <a:ext cx="188916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Nomeia exceção e prioridade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CAB804-E015-D3B4-683E-78AE7D135CF9}"/>
              </a:ext>
            </a:extLst>
          </p:cNvPr>
          <p:cNvSpPr/>
          <p:nvPr/>
        </p:nvSpPr>
        <p:spPr>
          <a:xfrm>
            <a:off x="5802082" y="5515543"/>
            <a:ext cx="1434737" cy="735822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Próximo passo humano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46D009-B485-7A6E-FFF4-499225820378}"/>
              </a:ext>
            </a:extLst>
          </p:cNvPr>
          <p:cNvSpPr/>
          <p:nvPr/>
        </p:nvSpPr>
        <p:spPr>
          <a:xfrm>
            <a:off x="10120446" y="2007473"/>
            <a:ext cx="144249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Pessoa confirma e executa</a:t>
            </a:r>
            <a:endParaRPr lang="en-US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712BA2-4D6C-5856-72AD-36DC6CC957E6}"/>
              </a:ext>
            </a:extLst>
          </p:cNvPr>
          <p:cNvSpPr/>
          <p:nvPr/>
        </p:nvSpPr>
        <p:spPr>
          <a:xfrm>
            <a:off x="10120446" y="3330341"/>
            <a:ext cx="144249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Saída: ficha de prazo ou fila</a:t>
            </a:r>
            <a:endParaRPr lang="en-US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CC470A-8A7D-0F0D-1263-9DFC6B752E92}"/>
              </a:ext>
            </a:extLst>
          </p:cNvPr>
          <p:cNvSpPr/>
          <p:nvPr/>
        </p:nvSpPr>
        <p:spPr>
          <a:xfrm>
            <a:off x="10120446" y="4653209"/>
            <a:ext cx="1442498" cy="782630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/>
              <a:t>Handoff</a:t>
            </a:r>
            <a:r>
              <a:rPr lang="pt-BR" sz="1400" dirty="0"/>
              <a:t> para recompra para boas entregas</a:t>
            </a:r>
            <a:endParaRPr lang="en-US" sz="14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628993E-6FF1-471D-540B-CDCCD1AA66F1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1722417" y="2148580"/>
            <a:ext cx="0" cy="412193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B61719-E7FC-055D-D77B-D584A165565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1722417" y="3343403"/>
            <a:ext cx="0" cy="412193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4B7528-179D-CA92-5488-56F339E45C4A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2667001" y="4146911"/>
            <a:ext cx="628104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60590FD-3069-70A0-223A-3BE63874333B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H="1" flipV="1">
            <a:off x="4160519" y="2795262"/>
            <a:ext cx="1" cy="671356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81E053F-EA49-A978-60B9-077DCD40AB48}"/>
              </a:ext>
            </a:extLst>
          </p:cNvPr>
          <p:cNvCxnSpPr>
            <a:cxnSpLocks/>
            <a:stCxn id="15" idx="2"/>
            <a:endCxn id="35" idx="0"/>
          </p:cNvCxnSpPr>
          <p:nvPr/>
        </p:nvCxnSpPr>
        <p:spPr>
          <a:xfrm flipH="1">
            <a:off x="4160519" y="4827204"/>
            <a:ext cx="1" cy="671356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CCCB7E-EA79-6405-F020-BABEB39385BD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5105103" y="5883454"/>
            <a:ext cx="696979" cy="6421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C2B81F-AE80-46BE-FCCD-8AC4E2CF8FA5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5105103" y="2403947"/>
            <a:ext cx="548934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34EBDF4-04B3-B764-2512-2E60D69CFBB9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7384866" y="2398788"/>
            <a:ext cx="433253" cy="5159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E378A99-00C3-D106-FD18-0F5B0E6EF911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7384866" y="2403947"/>
            <a:ext cx="433254" cy="1007684"/>
          </a:xfrm>
          <a:prstGeom prst="bentConnector3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0FA38EC-7128-6186-CD31-B75E4EE1772D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7384866" y="1380970"/>
            <a:ext cx="433254" cy="1022977"/>
          </a:xfrm>
          <a:prstGeom prst="bentConnector3">
            <a:avLst>
              <a:gd name="adj1" fmla="val 50000"/>
            </a:avLst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1AF3754-0433-69F3-C90A-7FCD96D8D410}"/>
              </a:ext>
            </a:extLst>
          </p:cNvPr>
          <p:cNvCxnSpPr>
            <a:cxnSpLocks/>
            <a:stCxn id="21" idx="3"/>
            <a:endCxn id="39" idx="1"/>
          </p:cNvCxnSpPr>
          <p:nvPr/>
        </p:nvCxnSpPr>
        <p:spPr>
          <a:xfrm>
            <a:off x="9252857" y="1380970"/>
            <a:ext cx="867589" cy="1017818"/>
          </a:xfrm>
          <a:prstGeom prst="bentConnector3">
            <a:avLst>
              <a:gd name="adj1" fmla="val 50000"/>
            </a:avLst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B2B94BB6-AA2D-5A77-35DA-173D181A3DE9}"/>
              </a:ext>
            </a:extLst>
          </p:cNvPr>
          <p:cNvCxnSpPr>
            <a:cxnSpLocks/>
            <a:stCxn id="25" idx="3"/>
            <a:endCxn id="39" idx="1"/>
          </p:cNvCxnSpPr>
          <p:nvPr/>
        </p:nvCxnSpPr>
        <p:spPr>
          <a:xfrm flipV="1">
            <a:off x="9252857" y="2398788"/>
            <a:ext cx="867589" cy="1012843"/>
          </a:xfrm>
          <a:prstGeom prst="bentConnector3">
            <a:avLst>
              <a:gd name="adj1" fmla="val 50000"/>
            </a:avLst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4A0F072-CDEE-9A87-4CBC-E50ED4712841}"/>
              </a:ext>
            </a:extLst>
          </p:cNvPr>
          <p:cNvCxnSpPr>
            <a:cxnSpLocks/>
            <a:stCxn id="23" idx="3"/>
            <a:endCxn id="39" idx="1"/>
          </p:cNvCxnSpPr>
          <p:nvPr/>
        </p:nvCxnSpPr>
        <p:spPr>
          <a:xfrm>
            <a:off x="9252856" y="2398788"/>
            <a:ext cx="867590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F63AD72-BD56-84FB-40BC-58F19FF84FB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7236819" y="2398788"/>
            <a:ext cx="2883627" cy="3484666"/>
          </a:xfrm>
          <a:prstGeom prst="bentConnector3">
            <a:avLst>
              <a:gd name="adj1" fmla="val 85108"/>
            </a:avLst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B5FDEA4-19A9-CC4E-0E6D-6FBCDAFCC743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10841695" y="2790103"/>
            <a:ext cx="0" cy="540238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D2F909-0559-14D5-B94B-0580A24419B7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10841695" y="4112971"/>
            <a:ext cx="0" cy="540238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8A5BD4-566F-1484-D374-A884E8303098}"/>
              </a:ext>
            </a:extLst>
          </p:cNvPr>
          <p:cNvSpPr/>
          <p:nvPr/>
        </p:nvSpPr>
        <p:spPr>
          <a:xfrm>
            <a:off x="3844333" y="3039440"/>
            <a:ext cx="606831" cy="238915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prazo</a:t>
            </a:r>
            <a:endParaRPr lang="en-US" sz="14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A6F4984-0B75-E1D7-7352-A3EDB5318F49}"/>
              </a:ext>
            </a:extLst>
          </p:cNvPr>
          <p:cNvSpPr/>
          <p:nvPr/>
        </p:nvSpPr>
        <p:spPr>
          <a:xfrm>
            <a:off x="3716680" y="4998938"/>
            <a:ext cx="887679" cy="265937"/>
          </a:xfrm>
          <a:prstGeom prst="rect">
            <a:avLst/>
          </a:prstGeom>
          <a:solidFill>
            <a:srgbClr val="ED145B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/>
              <a:t>excecao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EXEMPLO DE INTERAÇÃO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Pedido no RJ, prazo amanhã, ainda em trânsito.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D145B"/>
                </a:solidFill>
                <a:latin typeface="Arial"/>
              </a:rPr>
              <a:t>O AGENTE DIZ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3736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Trilha: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Risco: alto (RJ atrasa mais)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5760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Ação: avisar o cliente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1772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Financeiro: não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2344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D145B"/>
                </a:solidFill>
                <a:latin typeface="Arial"/>
              </a:rPr>
              <a:t>A PESSOA FAZ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Logística confirma o aviso.
Se o pedido estiver parado, a trilha vira exceção e o financeiro continua humano.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7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PEDIDO À DIRETORIA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Validar três agentes
como recorte da Fase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PRÓXIMA FASE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Arial"/>
              </a:rPr>
              <a:t>Protótipo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com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casos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reais.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AGORA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Sem plataforma grande.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4152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RÉGUA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Menos iniciativas, mais sinergia.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1280160" cy="508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110642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Começar por entrega, voz do cliente e recompra seletiva.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1164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Isabelle Menezes</cp:lastModifiedBy>
  <cp:revision>11</cp:revision>
  <dcterms:created xsi:type="dcterms:W3CDTF">2013-01-27T09:14:16Z</dcterms:created>
  <dcterms:modified xsi:type="dcterms:W3CDTF">2026-10-28T02:27:21Z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d24d9c5-38c1-495b-ab07-d4fc08626d86_Enabled">
    <vt:lpwstr>true</vt:lpwstr>
  </property>
  <property fmtid="{D5CDD505-2E9C-101B-9397-08002B2CF9AE}" pid="3" name="MSIP_Label_5d24d9c5-38c1-495b-ab07-d4fc08626d86_SetDate">
    <vt:lpwstr>2026-10-27T20:58:06Z</vt:lpwstr>
  </property>
  <property fmtid="{D5CDD505-2E9C-101B-9397-08002B2CF9AE}" pid="4" name="MSIP_Label_5d24d9c5-38c1-495b-ab07-d4fc08626d86_Method">
    <vt:lpwstr>Privileged</vt:lpwstr>
  </property>
  <property fmtid="{D5CDD505-2E9C-101B-9397-08002B2CF9AE}" pid="5" name="MSIP_Label_5d24d9c5-38c1-495b-ab07-d4fc08626d86_Name">
    <vt:lpwstr>Público</vt:lpwstr>
  </property>
  <property fmtid="{D5CDD505-2E9C-101B-9397-08002B2CF9AE}" pid="6" name="MSIP_Label_5d24d9c5-38c1-495b-ab07-d4fc08626d86_SiteId">
    <vt:lpwstr>05e665c9-c502-4a19-98a5-a913a6f52be8</vt:lpwstr>
  </property>
  <property fmtid="{D5CDD505-2E9C-101B-9397-08002B2CF9AE}" pid="7" name="MSIP_Label_5d24d9c5-38c1-495b-ab07-d4fc08626d86_ActionId">
    <vt:lpwstr>d23703a7-965f-45e2-a263-9f0a54776bb5</vt:lpwstr>
  </property>
  <property fmtid="{D5CDD505-2E9C-101B-9397-08002B2CF9AE}" pid="8" name="MSIP_Label_5d24d9c5-38c1-495b-ab07-d4fc08626d86_ContentBits">
    <vt:lpwstr>0</vt:lpwstr>
  </property>
  <property fmtid="{D5CDD505-2E9C-101B-9397-08002B2CF9AE}" pid="9" name="MSIP_Label_5d24d9c5-38c1-495b-ab07-d4fc08626d86_Tag">
    <vt:lpwstr>50, 0, 1, 1</vt:lpwstr>
  </property>
</Properties>
</file>