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58262" autoAdjust="0"/>
  </p:normalViewPr>
  <p:slideViewPr>
    <p:cSldViewPr snapToGrid="0" snapToObjects="1">
      <p:cViewPr varScale="1">
        <p:scale>
          <a:sx n="37" d="100"/>
          <a:sy n="37" d="100"/>
        </p:scale>
        <p:origin x="1712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796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dirty="0"/>
              <a:t>Apresentação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0:00–0:30 — </a:t>
            </a:r>
            <a:r>
              <a:rPr lang="pt-BR" dirty="0"/>
              <a:t>Apresentação do case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0:30–1:20 — </a:t>
            </a:r>
            <a:r>
              <a:rPr lang="pt-BR" dirty="0"/>
              <a:t>Dados obtidos</a:t>
            </a:r>
            <a:endParaRPr dirty="0"/>
          </a:p>
          <a:p>
            <a:r>
              <a:rPr dirty="0"/>
              <a:t>1. Quase 97% dos </a:t>
            </a:r>
            <a:r>
              <a:rPr dirty="0" err="1"/>
              <a:t>entregues</a:t>
            </a:r>
            <a:r>
              <a:rPr dirty="0"/>
              <a:t>, mas 6,8% </a:t>
            </a:r>
            <a:r>
              <a:rPr dirty="0" err="1"/>
              <a:t>atrasam</a:t>
            </a:r>
            <a:r>
              <a:rPr lang="pt-BR" dirty="0"/>
              <a:t>. N</a:t>
            </a:r>
            <a:r>
              <a:rPr dirty="0" err="1"/>
              <a:t>ota</a:t>
            </a:r>
            <a:r>
              <a:rPr dirty="0"/>
              <a:t> </a:t>
            </a:r>
            <a:r>
              <a:rPr dirty="0" err="1"/>
              <a:t>média</a:t>
            </a:r>
            <a:r>
              <a:rPr lang="pt-BR" dirty="0"/>
              <a:t> de avaliação</a:t>
            </a:r>
            <a:r>
              <a:rPr dirty="0"/>
              <a:t> </a:t>
            </a:r>
            <a:r>
              <a:rPr dirty="0" err="1"/>
              <a:t>cai</a:t>
            </a:r>
            <a:r>
              <a:rPr dirty="0"/>
              <a:t> de 4,3 para 2,6. Mais da </a:t>
            </a:r>
            <a:r>
              <a:rPr dirty="0" err="1"/>
              <a:t>metade</a:t>
            </a:r>
            <a:r>
              <a:rPr dirty="0"/>
              <a:t> dos </a:t>
            </a:r>
            <a:r>
              <a:rPr lang="pt-BR" dirty="0"/>
              <a:t>pedidos </a:t>
            </a:r>
            <a:r>
              <a:rPr dirty="0" err="1"/>
              <a:t>atrasados</a:t>
            </a:r>
            <a:r>
              <a:rPr dirty="0"/>
              <a:t> </a:t>
            </a:r>
            <a:r>
              <a:rPr lang="pt-BR" dirty="0"/>
              <a:t>recebe</a:t>
            </a:r>
            <a:r>
              <a:rPr dirty="0"/>
              <a:t> nota 1 </a:t>
            </a:r>
            <a:r>
              <a:rPr dirty="0" err="1"/>
              <a:t>ou</a:t>
            </a:r>
            <a:r>
              <a:rPr dirty="0"/>
              <a:t> 2.</a:t>
            </a:r>
          </a:p>
          <a:p>
            <a:r>
              <a:rPr dirty="0"/>
              <a:t>2. 15% das </a:t>
            </a:r>
            <a:r>
              <a:rPr dirty="0" err="1"/>
              <a:t>avaliações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ruins</a:t>
            </a:r>
            <a:r>
              <a:rPr lang="pt-BR" dirty="0"/>
              <a:t> e </a:t>
            </a:r>
            <a:r>
              <a:rPr dirty="0"/>
              <a:t>4 </a:t>
            </a:r>
            <a:r>
              <a:rPr lang="pt-BR" dirty="0"/>
              <a:t>a cada</a:t>
            </a:r>
            <a:r>
              <a:rPr dirty="0"/>
              <a:t> 10 </a:t>
            </a:r>
            <a:r>
              <a:rPr lang="pt-BR" dirty="0"/>
              <a:t>avaliações possuem </a:t>
            </a:r>
            <a:r>
              <a:rPr dirty="0" err="1"/>
              <a:t>texto</a:t>
            </a:r>
            <a:r>
              <a:rPr dirty="0"/>
              <a:t>. </a:t>
            </a:r>
            <a:r>
              <a:rPr lang="pt-BR" dirty="0"/>
              <a:t>Feedback pouco </a:t>
            </a:r>
            <a:r>
              <a:rPr dirty="0" err="1"/>
              <a:t>usad</a:t>
            </a:r>
            <a:r>
              <a:rPr lang="pt-BR" dirty="0"/>
              <a:t>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escala</a:t>
            </a:r>
            <a:r>
              <a:rPr dirty="0"/>
              <a:t>.</a:t>
            </a:r>
          </a:p>
          <a:p>
            <a:r>
              <a:rPr dirty="0"/>
              <a:t>3. 97% dos </a:t>
            </a:r>
            <a:r>
              <a:rPr dirty="0" err="1"/>
              <a:t>clientes</a:t>
            </a:r>
            <a:r>
              <a:rPr dirty="0"/>
              <a:t> </a:t>
            </a:r>
            <a:r>
              <a:rPr dirty="0" err="1"/>
              <a:t>compram</a:t>
            </a:r>
            <a:r>
              <a:rPr dirty="0"/>
              <a:t> </a:t>
            </a:r>
            <a:r>
              <a:rPr dirty="0" err="1"/>
              <a:t>uma</a:t>
            </a:r>
            <a:r>
              <a:rPr lang="pt-BR" dirty="0"/>
              <a:t> única</a:t>
            </a:r>
            <a:r>
              <a:rPr dirty="0"/>
              <a:t> </a:t>
            </a:r>
            <a:r>
              <a:rPr dirty="0" err="1"/>
              <a:t>vez</a:t>
            </a:r>
            <a:r>
              <a:rPr dirty="0"/>
              <a:t>. </a:t>
            </a:r>
            <a:r>
              <a:rPr dirty="0" err="1"/>
              <a:t>Crescimento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lang="pt-BR" dirty="0"/>
              <a:t>obter </a:t>
            </a:r>
            <a:r>
              <a:rPr dirty="0" err="1"/>
              <a:t>cliente</a:t>
            </a:r>
            <a:r>
              <a:rPr dirty="0"/>
              <a:t> novo</a:t>
            </a:r>
            <a:r>
              <a:rPr lang="pt-BR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1:20–2:00 — </a:t>
            </a:r>
            <a:r>
              <a:rPr lang="pt-BR" dirty="0"/>
              <a:t>O problema não é a falta de dado</a:t>
            </a:r>
          </a:p>
          <a:p>
            <a:r>
              <a:rPr lang="pt-BR" dirty="0"/>
              <a:t>Falta de gestão do prazo</a:t>
            </a:r>
            <a:r>
              <a:rPr dirty="0"/>
              <a:t>, </a:t>
            </a:r>
            <a:r>
              <a:rPr lang="pt-BR" dirty="0"/>
              <a:t>falta de ações direcionadas com base nas reviews </a:t>
            </a:r>
            <a:r>
              <a:rPr dirty="0"/>
              <a:t>e </a:t>
            </a:r>
            <a:r>
              <a:rPr lang="pt-BR" dirty="0"/>
              <a:t>falta de </a:t>
            </a:r>
            <a:r>
              <a:rPr dirty="0" err="1"/>
              <a:t>relacionamento</a:t>
            </a:r>
            <a:r>
              <a:rPr lang="pt-BR" dirty="0"/>
              <a:t> com cliente</a:t>
            </a:r>
            <a:r>
              <a:rPr dirty="0"/>
              <a:t>. </a:t>
            </a:r>
            <a:endParaRPr lang="pt-BR" dirty="0"/>
          </a:p>
          <a:p>
            <a:r>
              <a:rPr lang="pt-BR" dirty="0"/>
              <a:t>IA atua como assistente de </a:t>
            </a:r>
            <a:r>
              <a:rPr dirty="0" err="1"/>
              <a:t>decisão</a:t>
            </a:r>
            <a:r>
              <a:rPr lang="pt-BR" dirty="0"/>
              <a:t> </a:t>
            </a:r>
            <a:r>
              <a:rPr dirty="0"/>
              <a:t>para</a:t>
            </a:r>
            <a:r>
              <a:rPr lang="pt-BR" dirty="0"/>
              <a:t> áreas de</a:t>
            </a:r>
            <a:r>
              <a:rPr dirty="0"/>
              <a:t> </a:t>
            </a:r>
            <a:r>
              <a:rPr dirty="0" err="1"/>
              <a:t>logística</a:t>
            </a:r>
            <a:r>
              <a:rPr dirty="0"/>
              <a:t>, CX e CRM.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2:00–3:40 — </a:t>
            </a:r>
            <a:r>
              <a:rPr lang="pt-BR" dirty="0"/>
              <a:t>Quatro agentes </a:t>
            </a:r>
            <a:r>
              <a:rPr dirty="0"/>
              <a:t>(30s </a:t>
            </a:r>
            <a:r>
              <a:rPr dirty="0" err="1"/>
              <a:t>cada</a:t>
            </a:r>
            <a:r>
              <a:rPr dirty="0"/>
              <a:t>)</a:t>
            </a:r>
          </a:p>
          <a:p>
            <a:r>
              <a:rPr lang="pt-BR" dirty="0"/>
              <a:t>- </a:t>
            </a:r>
            <a:r>
              <a:rPr dirty="0" err="1"/>
              <a:t>Acompanhamento</a:t>
            </a:r>
            <a:r>
              <a:rPr dirty="0"/>
              <a:t> de </a:t>
            </a:r>
            <a:r>
              <a:rPr dirty="0" err="1"/>
              <a:t>Prazo</a:t>
            </a:r>
            <a:r>
              <a:rPr dirty="0"/>
              <a:t>: </a:t>
            </a:r>
            <a:r>
              <a:rPr lang="pt-BR" dirty="0"/>
              <a:t> </a:t>
            </a:r>
            <a:r>
              <a:rPr dirty="0" err="1"/>
              <a:t>risco</a:t>
            </a:r>
            <a:r>
              <a:rPr dirty="0"/>
              <a:t> de </a:t>
            </a:r>
            <a:r>
              <a:rPr dirty="0" err="1"/>
              <a:t>atraso</a:t>
            </a:r>
            <a:r>
              <a:rPr dirty="0"/>
              <a:t> e</a:t>
            </a:r>
            <a:r>
              <a:rPr lang="pt-BR" dirty="0"/>
              <a:t> ação</a:t>
            </a:r>
            <a:r>
              <a:rPr dirty="0"/>
              <a:t>. </a:t>
            </a:r>
            <a:r>
              <a:rPr lang="pt-BR" dirty="0"/>
              <a:t>Dói mais </a:t>
            </a:r>
            <a:r>
              <a:rPr dirty="0"/>
              <a:t>no RJ e </a:t>
            </a:r>
            <a:r>
              <a:rPr lang="pt-BR" dirty="0"/>
              <a:t>no Nordeste</a:t>
            </a:r>
            <a:r>
              <a:rPr dirty="0"/>
              <a:t>.</a:t>
            </a:r>
          </a:p>
          <a:p>
            <a:r>
              <a:rPr lang="pt-BR" dirty="0"/>
              <a:t>- </a:t>
            </a:r>
            <a:r>
              <a:rPr dirty="0" err="1"/>
              <a:t>Inteligência</a:t>
            </a:r>
            <a:r>
              <a:rPr dirty="0"/>
              <a:t> de </a:t>
            </a:r>
            <a:r>
              <a:rPr dirty="0" err="1"/>
              <a:t>Avaliações</a:t>
            </a:r>
            <a:r>
              <a:rPr dirty="0"/>
              <a:t>: </a:t>
            </a:r>
            <a:r>
              <a:rPr lang="pt-BR" dirty="0"/>
              <a:t>lê </a:t>
            </a:r>
            <a:r>
              <a:rPr dirty="0"/>
              <a:t>a nota e o </a:t>
            </a:r>
            <a:r>
              <a:rPr dirty="0" err="1"/>
              <a:t>texto</a:t>
            </a:r>
            <a:r>
              <a:rPr lang="pt-BR" dirty="0"/>
              <a:t> da review</a:t>
            </a:r>
            <a:r>
              <a:rPr dirty="0"/>
              <a:t>, </a:t>
            </a:r>
            <a:r>
              <a:rPr dirty="0" err="1"/>
              <a:t>classifica</a:t>
            </a:r>
            <a:r>
              <a:rPr lang="pt-BR" dirty="0"/>
              <a:t> a causa e </a:t>
            </a:r>
            <a:r>
              <a:rPr lang="pt-BR" dirty="0" err="1"/>
              <a:t>ugere</a:t>
            </a:r>
            <a:r>
              <a:rPr lang="pt-BR" dirty="0"/>
              <a:t> resposta</a:t>
            </a:r>
            <a:r>
              <a:rPr dirty="0"/>
              <a:t>.</a:t>
            </a:r>
          </a:p>
          <a:p>
            <a:r>
              <a:rPr lang="pt-BR" dirty="0"/>
              <a:t>- </a:t>
            </a:r>
            <a:r>
              <a:rPr dirty="0"/>
              <a:t>Relacionamento e </a:t>
            </a:r>
            <a:r>
              <a:rPr dirty="0" err="1"/>
              <a:t>Recompra</a:t>
            </a:r>
            <a:r>
              <a:rPr dirty="0"/>
              <a:t>: </a:t>
            </a:r>
            <a:r>
              <a:rPr lang="pt-BR" dirty="0"/>
              <a:t>ação com clientes de boa experiência</a:t>
            </a:r>
            <a:r>
              <a:rPr dirty="0"/>
              <a:t>.</a:t>
            </a:r>
          </a:p>
          <a:p>
            <a:r>
              <a:rPr lang="pt-BR" dirty="0"/>
              <a:t>- </a:t>
            </a:r>
            <a:r>
              <a:rPr dirty="0" err="1"/>
              <a:t>Exceções</a:t>
            </a:r>
            <a:r>
              <a:rPr dirty="0"/>
              <a:t> </a:t>
            </a:r>
            <a:r>
              <a:rPr dirty="0" err="1"/>
              <a:t>Operacionais</a:t>
            </a:r>
            <a:r>
              <a:rPr dirty="0"/>
              <a:t>: </a:t>
            </a:r>
            <a:r>
              <a:rPr lang="pt-BR" dirty="0"/>
              <a:t>pedidos </a:t>
            </a:r>
            <a:r>
              <a:rPr dirty="0" err="1"/>
              <a:t>cancelado</a:t>
            </a:r>
            <a:r>
              <a:rPr lang="pt-BR" dirty="0"/>
              <a:t>s</a:t>
            </a:r>
            <a:r>
              <a:rPr dirty="0"/>
              <a:t>, </a:t>
            </a:r>
            <a:r>
              <a:rPr dirty="0" err="1"/>
              <a:t>indisponíve</a:t>
            </a:r>
            <a:r>
              <a:rPr lang="pt-BR" dirty="0" err="1"/>
              <a:t>is</a:t>
            </a:r>
            <a:r>
              <a:rPr dirty="0"/>
              <a:t>, </a:t>
            </a:r>
            <a:r>
              <a:rPr dirty="0" err="1"/>
              <a:t>pedido</a:t>
            </a:r>
            <a:r>
              <a:rPr lang="pt-BR" dirty="0"/>
              <a:t>s</a:t>
            </a:r>
            <a:r>
              <a:rPr dirty="0"/>
              <a:t> </a:t>
            </a:r>
            <a:r>
              <a:rPr dirty="0" err="1"/>
              <a:t>parado</a:t>
            </a:r>
            <a:r>
              <a:rPr lang="pt-BR" dirty="0"/>
              <a:t>s, com o direcionamento humano.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3:40–4:20 — </a:t>
            </a:r>
            <a:r>
              <a:rPr lang="pt-BR" dirty="0"/>
              <a:t>Dos impactos esperados, podemos citar</a:t>
            </a:r>
          </a:p>
          <a:p>
            <a:pPr marL="171450" indent="-171450">
              <a:buFontTx/>
              <a:buChar char="-"/>
            </a:pPr>
            <a:r>
              <a:rPr dirty="0" err="1"/>
              <a:t>menos</a:t>
            </a:r>
            <a:r>
              <a:rPr dirty="0"/>
              <a:t> nota 1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prazo</a:t>
            </a:r>
            <a:r>
              <a:rPr lang="pt-BR" dirty="0"/>
              <a:t> de entrega ultrapassado</a:t>
            </a:r>
            <a:r>
              <a:rPr dirty="0"/>
              <a:t>; </a:t>
            </a:r>
            <a:endParaRPr lang="pt-BR" dirty="0"/>
          </a:p>
          <a:p>
            <a:pPr marL="171450" indent="-171450">
              <a:buFontTx/>
              <a:buChar char="-"/>
            </a:pPr>
            <a:r>
              <a:rPr lang="en-US" dirty="0"/>
              <a:t>R</a:t>
            </a:r>
            <a:r>
              <a:rPr dirty="0"/>
              <a:t>evi</a:t>
            </a:r>
            <a:r>
              <a:rPr lang="pt-BR" dirty="0" err="1"/>
              <a:t>ews</a:t>
            </a:r>
            <a:r>
              <a:rPr lang="pt-BR" dirty="0"/>
              <a:t> </a:t>
            </a:r>
            <a:r>
              <a:rPr dirty="0" err="1"/>
              <a:t>virando</a:t>
            </a:r>
            <a:r>
              <a:rPr dirty="0"/>
              <a:t> causa </a:t>
            </a:r>
            <a:r>
              <a:rPr dirty="0" err="1"/>
              <a:t>raiz</a:t>
            </a:r>
            <a:r>
              <a:rPr lang="pt-BR" dirty="0"/>
              <a:t> a partir de análise</a:t>
            </a:r>
            <a:r>
              <a:rPr dirty="0"/>
              <a:t>; </a:t>
            </a:r>
            <a:endParaRPr lang="pt-BR" dirty="0"/>
          </a:p>
          <a:p>
            <a:pPr marL="171450" indent="-171450">
              <a:buFontTx/>
              <a:buChar char="-"/>
            </a:pPr>
            <a:r>
              <a:rPr dirty="0" err="1"/>
              <a:t>início</a:t>
            </a:r>
            <a:r>
              <a:rPr dirty="0"/>
              <a:t> de </a:t>
            </a:r>
            <a:r>
              <a:rPr dirty="0" err="1"/>
              <a:t>segunda</a:t>
            </a:r>
            <a:r>
              <a:rPr dirty="0"/>
              <a:t> </a:t>
            </a:r>
            <a:r>
              <a:rPr dirty="0" err="1"/>
              <a:t>compra</a:t>
            </a:r>
            <a:r>
              <a:rPr lang="pt-BR" dirty="0"/>
              <a:t> dos clientes</a:t>
            </a:r>
            <a:r>
              <a:rPr dirty="0"/>
              <a:t>; </a:t>
            </a:r>
            <a:endParaRPr lang="pt-BR" dirty="0"/>
          </a:p>
          <a:p>
            <a:pPr marL="171450" indent="-171450">
              <a:buFontTx/>
              <a:buChar char="-"/>
            </a:pPr>
            <a:r>
              <a:rPr dirty="0"/>
              <a:t>fila de </a:t>
            </a:r>
            <a:r>
              <a:rPr dirty="0" err="1"/>
              <a:t>exceção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curta</a:t>
            </a:r>
            <a:r>
              <a:rPr lang="pt-BR" dirty="0"/>
              <a:t> e direcionada</a:t>
            </a:r>
            <a:r>
              <a:rPr dirty="0"/>
              <a:t>.</a:t>
            </a:r>
          </a:p>
          <a:p>
            <a:r>
              <a:rPr lang="pt-BR" dirty="0"/>
              <a:t>Ao mesmo tempo, existem alguns riscos que podem ser mitigados com análise humana no processo.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4:20–5:00 — </a:t>
            </a:r>
            <a:r>
              <a:rPr lang="pt-BR" dirty="0"/>
              <a:t>Validação de agentes</a:t>
            </a:r>
          </a:p>
          <a:p>
            <a:r>
              <a:rPr lang="pt-BR" dirty="0"/>
              <a:t>Próxima fase</a:t>
            </a:r>
            <a:r>
              <a:rPr dirty="0"/>
              <a:t>. </a:t>
            </a:r>
            <a:endParaRPr lang="pt-BR" dirty="0"/>
          </a:p>
          <a:p>
            <a:r>
              <a:rPr lang="pt-BR" dirty="0"/>
              <a:t>Atual.</a:t>
            </a:r>
          </a:p>
          <a:p>
            <a:r>
              <a:rPr lang="pt-BR" dirty="0"/>
              <a:t>IA e clareza.</a:t>
            </a:r>
          </a:p>
          <a:p>
            <a:endParaRPr lang="pt-BR" dirty="0"/>
          </a:p>
          <a:p>
            <a:r>
              <a:rPr dirty="0" err="1"/>
              <a:t>Os</a:t>
            </a:r>
            <a:r>
              <a:rPr dirty="0"/>
              <a:t> dados da </a:t>
            </a:r>
            <a:r>
              <a:rPr dirty="0" err="1"/>
              <a:t>Olist</a:t>
            </a:r>
            <a:r>
              <a:rPr dirty="0"/>
              <a:t>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mostram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onde</a:t>
            </a:r>
            <a:r>
              <a:rPr dirty="0"/>
              <a:t> </a:t>
            </a:r>
            <a:r>
              <a:rPr dirty="0" err="1"/>
              <a:t>começar</a:t>
            </a:r>
            <a:r>
              <a:rPr dirty="0"/>
              <a:t>: </a:t>
            </a:r>
            <a:r>
              <a:rPr dirty="0" err="1"/>
              <a:t>prazo</a:t>
            </a:r>
            <a:r>
              <a:rPr dirty="0"/>
              <a:t>, </a:t>
            </a:r>
            <a:r>
              <a:rPr dirty="0" err="1"/>
              <a:t>voz</a:t>
            </a:r>
            <a:r>
              <a:rPr dirty="0"/>
              <a:t> do </a:t>
            </a:r>
            <a:r>
              <a:rPr dirty="0" err="1"/>
              <a:t>cliente</a:t>
            </a:r>
            <a:r>
              <a:rPr dirty="0"/>
              <a:t> e </a:t>
            </a:r>
            <a:r>
              <a:rPr dirty="0" err="1"/>
              <a:t>recompra</a:t>
            </a:r>
            <a:r>
              <a:rPr dirty="0"/>
              <a:t>.</a:t>
            </a:r>
            <a:endParaRPr lang="pt-BR" dirty="0"/>
          </a:p>
          <a:p>
            <a:endParaRPr lang="pt-BR" dirty="0"/>
          </a:p>
          <a:p>
            <a:r>
              <a:rPr lang="pt-BR" dirty="0"/>
              <a:t>Obrigada!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98480" y="201168"/>
            <a:ext cx="1051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2200" b="1" i="0">
                <a:solidFill>
                  <a:srgbClr val="ED145B"/>
                </a:solidFill>
                <a:latin typeface="Arial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3B3B3"/>
                </a:solidFill>
                <a:latin typeface="Arial"/>
              </a:rPr>
              <a:t>OLIST  ·  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B3B3B3"/>
                </a:solidFill>
                <a:latin typeface="Arial"/>
              </a:rPr>
              <a:t>1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ED145B"/>
                </a:solidFill>
                <a:latin typeface="Arial"/>
              </a:rPr>
              <a:t>FIAP  |  PÓS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1155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OLIST INTELLIGENT</a:t>
            </a:r>
          </a:p>
          <a:p>
            <a:pPr algn="l">
              <a:spcAft>
                <a:spcPts val="12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MARKETPLACE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160520"/>
            <a:ext cx="1280160" cy="508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34340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dirty="0">
                <a:solidFill>
                  <a:srgbClr val="B3B3B3"/>
                </a:solidFill>
                <a:latin typeface="Arial"/>
              </a:rPr>
              <a:t>Consultoria de IA </a:t>
            </a:r>
            <a:r>
              <a:rPr sz="1800" b="0" i="0" dirty="0" err="1">
                <a:solidFill>
                  <a:srgbClr val="B3B3B3"/>
                </a:solidFill>
                <a:latin typeface="Arial"/>
              </a:rPr>
              <a:t>agêntica</a:t>
            </a:r>
            <a:r>
              <a:rPr sz="1800" b="0" i="0" dirty="0">
                <a:solidFill>
                  <a:srgbClr val="B3B3B3"/>
                </a:solidFill>
                <a:latin typeface="Arial"/>
              </a:rPr>
              <a:t>  ·  </a:t>
            </a:r>
            <a:r>
              <a:rPr sz="1800" b="0" i="0" dirty="0" err="1">
                <a:solidFill>
                  <a:srgbClr val="B3B3B3"/>
                </a:solidFill>
                <a:latin typeface="Arial"/>
              </a:rPr>
              <a:t>Diretoria</a:t>
            </a:r>
            <a:r>
              <a:rPr sz="1800" b="0" i="0" dirty="0">
                <a:solidFill>
                  <a:srgbClr val="B3B3B3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B3B3B3"/>
                </a:solidFill>
                <a:latin typeface="Arial"/>
              </a:rPr>
              <a:t>Olist</a:t>
            </a:r>
            <a:endParaRPr lang="pt-BR" sz="1800" b="0" i="0" dirty="0">
              <a:solidFill>
                <a:srgbClr val="B3B3B3"/>
              </a:solidFill>
              <a:latin typeface="Arial"/>
            </a:endParaRPr>
          </a:p>
          <a:p>
            <a:pPr algn="l"/>
            <a:r>
              <a:rPr lang="pt-BR" dirty="0">
                <a:solidFill>
                  <a:srgbClr val="B3B3B3"/>
                </a:solidFill>
                <a:latin typeface="Arial"/>
              </a:rPr>
              <a:t>Isabelle Cristina Teixeira de Menezes · RM375070</a:t>
            </a:r>
            <a:endParaRPr sz="1800" b="0" i="0" dirty="0">
              <a:solidFill>
                <a:srgbClr val="B3B3B3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98480" y="201168"/>
            <a:ext cx="1051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2200" b="1" i="0">
                <a:solidFill>
                  <a:srgbClr val="ED145B"/>
                </a:solidFill>
                <a:latin typeface="Arial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3B3B3"/>
                </a:solidFill>
                <a:latin typeface="Arial"/>
              </a:rPr>
              <a:t>OLIST  ·  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B3B3B3"/>
                </a:solidFill>
                <a:latin typeface="Arial"/>
              </a:rPr>
              <a:t>2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ABERTURA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777240"/>
            <a:ext cx="110642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Como a Olist usa IA generativa</a:t>
            </a:r>
          </a:p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e agentes para melhorar operação</a:t>
            </a:r>
          </a:p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rial"/>
              </a:rPr>
              <a:t>e indicadores.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794760"/>
            <a:ext cx="822960" cy="508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105156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 dirty="0" err="1">
                <a:solidFill>
                  <a:srgbClr val="B3B3B3"/>
                </a:solidFill>
                <a:latin typeface="Arial"/>
              </a:rPr>
              <a:t>Análise</a:t>
            </a:r>
            <a:r>
              <a:rPr sz="1800" b="0" i="0" dirty="0">
                <a:solidFill>
                  <a:srgbClr val="B3B3B3"/>
                </a:solidFill>
                <a:latin typeface="Arial"/>
              </a:rPr>
              <a:t> de </a:t>
            </a:r>
            <a:r>
              <a:rPr sz="1800" b="0" i="0" dirty="0" err="1">
                <a:solidFill>
                  <a:srgbClr val="B3B3B3"/>
                </a:solidFill>
                <a:latin typeface="Arial"/>
              </a:rPr>
              <a:t>negócio</a:t>
            </a:r>
            <a:r>
              <a:rPr sz="1800" b="0" i="0" dirty="0">
                <a:solidFill>
                  <a:srgbClr val="B3B3B3"/>
                </a:solidFill>
                <a:latin typeface="Arial"/>
              </a:rPr>
              <a:t>
</a:t>
            </a:r>
            <a:r>
              <a:rPr sz="1800" b="0" i="0" dirty="0" err="1">
                <a:solidFill>
                  <a:srgbClr val="B3B3B3"/>
                </a:solidFill>
                <a:latin typeface="Arial"/>
              </a:rPr>
              <a:t>Assistente</a:t>
            </a:r>
            <a:r>
              <a:rPr sz="1800" b="0" i="0" dirty="0">
                <a:solidFill>
                  <a:srgbClr val="B3B3B3"/>
                </a:solidFill>
                <a:latin typeface="Arial"/>
              </a:rPr>
              <a:t> de </a:t>
            </a:r>
            <a:r>
              <a:rPr sz="1800" b="0" i="0" dirty="0" err="1">
                <a:solidFill>
                  <a:srgbClr val="B3B3B3"/>
                </a:solidFill>
                <a:latin typeface="Arial"/>
              </a:rPr>
              <a:t>decisão</a:t>
            </a:r>
            <a:r>
              <a:rPr sz="1800" b="0" i="0" dirty="0">
                <a:solidFill>
                  <a:srgbClr val="B3B3B3"/>
                </a:solidFill>
                <a:latin typeface="Arial"/>
              </a:rPr>
              <a:t> para </a:t>
            </a:r>
            <a:r>
              <a:rPr sz="1800" b="0" i="0" dirty="0" err="1">
                <a:solidFill>
                  <a:srgbClr val="B3B3B3"/>
                </a:solidFill>
                <a:latin typeface="Arial"/>
              </a:rPr>
              <a:t>logística</a:t>
            </a:r>
            <a:r>
              <a:rPr sz="1800" b="0" i="0" dirty="0">
                <a:solidFill>
                  <a:srgbClr val="B3B3B3"/>
                </a:solidFill>
                <a:latin typeface="Arial"/>
              </a:rPr>
              <a:t>, CX e CRM.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98480" y="201168"/>
            <a:ext cx="1051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2200" b="1" i="0">
                <a:solidFill>
                  <a:srgbClr val="ED145B"/>
                </a:solidFill>
                <a:latin typeface="Arial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3B3B3"/>
                </a:solidFill>
                <a:latin typeface="Arial"/>
              </a:rPr>
              <a:t>OLIST  ·  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B3B3B3"/>
                </a:solidFill>
                <a:latin typeface="Arial"/>
              </a:rPr>
              <a:t>3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TRÊS NÚMEROS QUE MUDAM A CONVERSA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"/>
            <a:ext cx="10058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O dado já está na operação. O que falta é decisão.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3584448" cy="498348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498348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1307592"/>
            <a:ext cx="325526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01  ·  LOGÍSTICA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1581912"/>
            <a:ext cx="32552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6,8%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258568"/>
            <a:ext cx="3255264" cy="3703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3B3B3"/>
                </a:solidFill>
                <a:latin typeface="Arial"/>
              </a:rPr>
              <a:t>dos pedidos atrasam — e nesses a nota cai de 4,3 para 2,6.
Mais da metade dos atrasados dá nota 1 ou 2.
Dói mais no RJ e no Nordeste.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143000"/>
            <a:ext cx="3584448" cy="498348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88536" y="1143000"/>
            <a:ext cx="73152" cy="498348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9704" y="1307592"/>
            <a:ext cx="325526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02  ·  VOZ DO CLIENTE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1581912"/>
            <a:ext cx="32552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258568"/>
            <a:ext cx="3255264" cy="3703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 dirty="0">
                <a:solidFill>
                  <a:srgbClr val="B3B3B3"/>
                </a:solidFill>
                <a:latin typeface="Arial"/>
              </a:rPr>
              <a:t>das </a:t>
            </a:r>
            <a:r>
              <a:rPr sz="1300" b="0" i="0" dirty="0" err="1">
                <a:solidFill>
                  <a:srgbClr val="B3B3B3"/>
                </a:solidFill>
                <a:latin typeface="Arial"/>
              </a:rPr>
              <a:t>avaliações</a:t>
            </a:r>
            <a:r>
              <a:rPr sz="1300" b="0" i="0" dirty="0">
                <a:solidFill>
                  <a:srgbClr val="B3B3B3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B3B3B3"/>
                </a:solidFill>
                <a:latin typeface="Arial"/>
              </a:rPr>
              <a:t>são</a:t>
            </a:r>
            <a:r>
              <a:rPr sz="1300" b="0" i="0" dirty="0">
                <a:solidFill>
                  <a:srgbClr val="B3B3B3"/>
                </a:solidFill>
                <a:latin typeface="Arial"/>
              </a:rPr>
              <a:t> ruins.
4 </a:t>
            </a:r>
            <a:r>
              <a:rPr sz="1300" b="0" i="0" dirty="0" err="1">
                <a:solidFill>
                  <a:srgbClr val="B3B3B3"/>
                </a:solidFill>
                <a:latin typeface="Arial"/>
              </a:rPr>
              <a:t>em</a:t>
            </a:r>
            <a:r>
              <a:rPr sz="1300" b="0" i="0" dirty="0">
                <a:solidFill>
                  <a:srgbClr val="B3B3B3"/>
                </a:solidFill>
                <a:latin typeface="Arial"/>
              </a:rPr>
              <a:t> 10 </a:t>
            </a:r>
            <a:r>
              <a:rPr sz="1300" b="0" i="0" dirty="0" err="1">
                <a:solidFill>
                  <a:srgbClr val="B3B3B3"/>
                </a:solidFill>
                <a:latin typeface="Arial"/>
              </a:rPr>
              <a:t>vêm</a:t>
            </a:r>
            <a:r>
              <a:rPr sz="1300" b="0" i="0" dirty="0">
                <a:solidFill>
                  <a:srgbClr val="B3B3B3"/>
                </a:solidFill>
                <a:latin typeface="Arial"/>
              </a:rPr>
              <a:t> com </a:t>
            </a:r>
            <a:r>
              <a:rPr sz="1300" b="0" i="0" dirty="0" err="1">
                <a:solidFill>
                  <a:srgbClr val="B3B3B3"/>
                </a:solidFill>
                <a:latin typeface="Arial"/>
              </a:rPr>
              <a:t>texto</a:t>
            </a:r>
            <a:r>
              <a:rPr sz="1300" b="0" i="0" dirty="0">
                <a:solidFill>
                  <a:srgbClr val="B3B3B3"/>
                </a:solidFill>
                <a:latin typeface="Arial"/>
              </a:rPr>
              <a:t>.
</a:t>
            </a:r>
            <a:r>
              <a:rPr lang="pt-BR" sz="1300" b="0" i="0" dirty="0">
                <a:solidFill>
                  <a:srgbClr val="B3B3B3"/>
                </a:solidFill>
                <a:latin typeface="Arial"/>
              </a:rPr>
              <a:t>Feedback</a:t>
            </a:r>
            <a:r>
              <a:rPr sz="1300" b="0" i="0" dirty="0">
                <a:solidFill>
                  <a:srgbClr val="B3B3B3"/>
                </a:solidFill>
                <a:latin typeface="Arial"/>
              </a:rPr>
              <a:t> do </a:t>
            </a:r>
            <a:r>
              <a:rPr sz="1300" b="0" i="0" dirty="0" err="1">
                <a:solidFill>
                  <a:srgbClr val="B3B3B3"/>
                </a:solidFill>
                <a:latin typeface="Arial"/>
              </a:rPr>
              <a:t>cliente</a:t>
            </a:r>
            <a:r>
              <a:rPr sz="1300" b="0" i="0" dirty="0">
                <a:solidFill>
                  <a:srgbClr val="B3B3B3"/>
                </a:solidFill>
                <a:latin typeface="Arial"/>
              </a:rPr>
              <a:t>, </a:t>
            </a:r>
            <a:r>
              <a:rPr sz="1300" b="0" i="0" dirty="0" err="1">
                <a:solidFill>
                  <a:srgbClr val="B3B3B3"/>
                </a:solidFill>
                <a:latin typeface="Arial"/>
              </a:rPr>
              <a:t>hoje</a:t>
            </a:r>
            <a:r>
              <a:rPr sz="1300" b="0" i="0" dirty="0">
                <a:solidFill>
                  <a:srgbClr val="B3B3B3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B3B3B3"/>
                </a:solidFill>
                <a:latin typeface="Arial"/>
              </a:rPr>
              <a:t>pouco</a:t>
            </a:r>
            <a:r>
              <a:rPr sz="1300" b="0" i="0" dirty="0">
                <a:solidFill>
                  <a:srgbClr val="B3B3B3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B3B3B3"/>
                </a:solidFill>
                <a:latin typeface="Arial"/>
              </a:rPr>
              <a:t>usad</a:t>
            </a:r>
            <a:r>
              <a:rPr lang="pt-BR" sz="1300" b="0" i="0" dirty="0">
                <a:solidFill>
                  <a:srgbClr val="B3B3B3"/>
                </a:solidFill>
                <a:latin typeface="Arial"/>
              </a:rPr>
              <a:t>o</a:t>
            </a:r>
            <a:r>
              <a:rPr sz="1300" b="0" i="0" dirty="0">
                <a:solidFill>
                  <a:srgbClr val="B3B3B3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B3B3B3"/>
                </a:solidFill>
                <a:latin typeface="Arial"/>
              </a:rPr>
              <a:t>em</a:t>
            </a:r>
            <a:r>
              <a:rPr sz="1300" b="0" i="0" dirty="0">
                <a:solidFill>
                  <a:srgbClr val="B3B3B3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B3B3B3"/>
                </a:solidFill>
                <a:latin typeface="Arial"/>
              </a:rPr>
              <a:t>escala</a:t>
            </a:r>
            <a:r>
              <a:rPr sz="1300" b="0" i="0" dirty="0">
                <a:solidFill>
                  <a:srgbClr val="B3B3B3"/>
                </a:solidFill>
                <a:latin typeface="Arial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74152" y="1143000"/>
            <a:ext cx="3584448" cy="498348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74152" y="1143000"/>
            <a:ext cx="73152" cy="498348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5320" y="1307592"/>
            <a:ext cx="325526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03  ·  RELACIONAMENTO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581912"/>
            <a:ext cx="325526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97%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258568"/>
            <a:ext cx="3255264" cy="3703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B3B3B3"/>
                </a:solidFill>
                <a:latin typeface="Arial"/>
              </a:rPr>
              <a:t>dos clientes compram uma vez.
Crescimento está quase todo em cliente novo, não em relação.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98480" y="201168"/>
            <a:ext cx="1051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2200" b="1" i="0">
                <a:solidFill>
                  <a:srgbClr val="ED145B"/>
                </a:solidFill>
                <a:latin typeface="Arial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3B3B3"/>
                </a:solidFill>
                <a:latin typeface="Arial"/>
              </a:rPr>
              <a:t>OLIST  ·  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B3B3B3"/>
                </a:solidFill>
                <a:latin typeface="Arial"/>
              </a:rPr>
              <a:t>4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O QUE ISSO SIGNIFICA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3035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 problema não é falta de dado.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584448" cy="288036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600200"/>
            <a:ext cx="321868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ED145B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011680"/>
            <a:ext cx="321868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Prazo percebido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926080"/>
            <a:ext cx="3218688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dirty="0" err="1">
                <a:solidFill>
                  <a:srgbClr val="B3B3B3"/>
                </a:solidFill>
                <a:latin typeface="Arial"/>
              </a:rPr>
              <a:t>Atraso</a:t>
            </a:r>
            <a:r>
              <a:rPr sz="1400" b="0" i="0" dirty="0">
                <a:solidFill>
                  <a:srgbClr val="B3B3B3"/>
                </a:solidFill>
                <a:latin typeface="Arial"/>
              </a:rPr>
              <a:t> é </a:t>
            </a:r>
            <a:r>
              <a:rPr sz="1400" b="0" i="0" dirty="0" err="1">
                <a:solidFill>
                  <a:srgbClr val="B3B3B3"/>
                </a:solidFill>
                <a:latin typeface="Arial"/>
              </a:rPr>
              <a:t>minoria</a:t>
            </a:r>
            <a:r>
              <a:rPr sz="1400" b="0" i="0" dirty="0">
                <a:solidFill>
                  <a:srgbClr val="B3B3B3"/>
                </a:solidFill>
                <a:latin typeface="Arial"/>
              </a:rPr>
              <a:t>. Quando </a:t>
            </a:r>
            <a:r>
              <a:rPr sz="1400" b="0" i="0" dirty="0" err="1">
                <a:solidFill>
                  <a:srgbClr val="B3B3B3"/>
                </a:solidFill>
                <a:latin typeface="Arial"/>
              </a:rPr>
              <a:t>acontece</a:t>
            </a:r>
            <a:r>
              <a:rPr sz="1400" b="0" i="0" dirty="0">
                <a:solidFill>
                  <a:srgbClr val="B3B3B3"/>
                </a:solidFill>
                <a:latin typeface="Arial"/>
              </a:rPr>
              <a:t>, a nota</a:t>
            </a:r>
            <a:r>
              <a:rPr lang="pt-BR" sz="1400" dirty="0">
                <a:solidFill>
                  <a:srgbClr val="B3B3B3"/>
                </a:solidFill>
                <a:latin typeface="Arial"/>
              </a:rPr>
              <a:t> da avaliação é</a:t>
            </a:r>
            <a:r>
              <a:rPr sz="1400" b="0" i="0" dirty="0">
                <a:solidFill>
                  <a:srgbClr val="B3B3B3"/>
                </a:solidFill>
                <a:latin typeface="Arial"/>
              </a:rPr>
              <a:t> </a:t>
            </a:r>
            <a:r>
              <a:rPr lang="pt-BR" sz="1400" b="0" i="0" dirty="0">
                <a:solidFill>
                  <a:srgbClr val="B3B3B3"/>
                </a:solidFill>
                <a:latin typeface="Arial"/>
              </a:rPr>
              <a:t>fortemente impactada</a:t>
            </a:r>
            <a:r>
              <a:rPr sz="1400" b="0" i="0" dirty="0">
                <a:solidFill>
                  <a:srgbClr val="B3B3B3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417320"/>
            <a:ext cx="3584448" cy="288036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9704" y="1600200"/>
            <a:ext cx="321868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ED145B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2011680"/>
            <a:ext cx="321868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Aprendizado com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926080"/>
            <a:ext cx="3218688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B3B3B3"/>
                </a:solidFill>
                <a:latin typeface="Arial"/>
              </a:rPr>
              <a:t>O cliente já escreve a causa. Isso não vira ação padronizada.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1417320"/>
            <a:ext cx="3584448" cy="288036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1600200"/>
            <a:ext cx="321868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ED145B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011680"/>
            <a:ext cx="321868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Relacionamento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926080"/>
            <a:ext cx="3218688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 dirty="0">
                <a:solidFill>
                  <a:srgbClr val="B3B3B3"/>
                </a:solidFill>
                <a:latin typeface="Arial"/>
              </a:rPr>
              <a:t>Quase </a:t>
            </a:r>
            <a:r>
              <a:rPr sz="1400" b="0" i="0" dirty="0" err="1">
                <a:solidFill>
                  <a:srgbClr val="B3B3B3"/>
                </a:solidFill>
                <a:latin typeface="Arial"/>
              </a:rPr>
              <a:t>não</a:t>
            </a:r>
            <a:r>
              <a:rPr sz="1400" b="0" i="0" dirty="0">
                <a:solidFill>
                  <a:srgbClr val="B3B3B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B3B3B3"/>
                </a:solidFill>
                <a:latin typeface="Arial"/>
              </a:rPr>
              <a:t>há</a:t>
            </a:r>
            <a:r>
              <a:rPr sz="1400" b="0" i="0" dirty="0">
                <a:solidFill>
                  <a:srgbClr val="B3B3B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B3B3B3"/>
                </a:solidFill>
                <a:latin typeface="Arial"/>
              </a:rPr>
              <a:t>segunda</a:t>
            </a:r>
            <a:r>
              <a:rPr sz="1400" b="0" i="0" dirty="0">
                <a:solidFill>
                  <a:srgbClr val="B3B3B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B3B3B3"/>
                </a:solidFill>
                <a:latin typeface="Arial"/>
              </a:rPr>
              <a:t>compra</a:t>
            </a:r>
            <a:r>
              <a:rPr sz="1400" b="0" i="0" dirty="0">
                <a:solidFill>
                  <a:srgbClr val="B3B3B3"/>
                </a:solidFill>
                <a:latin typeface="Arial"/>
              </a:rPr>
              <a:t>. Falta </a:t>
            </a:r>
            <a:r>
              <a:rPr sz="1400" b="0" i="0" dirty="0" err="1">
                <a:solidFill>
                  <a:srgbClr val="B3B3B3"/>
                </a:solidFill>
                <a:latin typeface="Arial"/>
              </a:rPr>
              <a:t>critério</a:t>
            </a:r>
            <a:r>
              <a:rPr sz="1400" b="0" i="0" dirty="0">
                <a:solidFill>
                  <a:srgbClr val="B3B3B3"/>
                </a:solidFill>
                <a:latin typeface="Arial"/>
              </a:rPr>
              <a:t> de </a:t>
            </a:r>
            <a:r>
              <a:rPr sz="1400" b="0" i="0" dirty="0" err="1">
                <a:solidFill>
                  <a:srgbClr val="B3B3B3"/>
                </a:solidFill>
                <a:latin typeface="Arial"/>
              </a:rPr>
              <a:t>contato</a:t>
            </a:r>
            <a:r>
              <a:rPr lang="pt-BR" sz="1400" b="0" i="0" dirty="0">
                <a:solidFill>
                  <a:srgbClr val="B3B3B3"/>
                </a:solidFill>
                <a:latin typeface="Arial"/>
              </a:rPr>
              <a:t> para reter clientes</a:t>
            </a:r>
            <a:r>
              <a:rPr sz="1400" b="0" i="0" dirty="0">
                <a:solidFill>
                  <a:srgbClr val="B3B3B3"/>
                </a:solidFill>
                <a:latin typeface="Arial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617720"/>
            <a:ext cx="11155680" cy="1554480"/>
          </a:xfrm>
          <a:prstGeom prst="rect">
            <a:avLst/>
          </a:prstGeom>
          <a:solidFill>
            <a:srgbClr val="111111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105156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pt-BR" sz="2000" b="1" i="0" dirty="0">
                <a:solidFill>
                  <a:srgbClr val="FFFFFF"/>
                </a:solidFill>
                <a:latin typeface="Arial"/>
              </a:rPr>
              <a:t>A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IA </a:t>
            </a:r>
            <a:r>
              <a:rPr sz="2000" b="1" i="0" dirty="0" err="1">
                <a:solidFill>
                  <a:srgbClr val="FFFFFF"/>
                </a:solidFill>
                <a:latin typeface="Arial"/>
              </a:rPr>
              <a:t>aqui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pt-BR" sz="2000" b="1" i="0" dirty="0">
                <a:solidFill>
                  <a:srgbClr val="FFFFFF"/>
                </a:solidFill>
                <a:latin typeface="Arial"/>
              </a:rPr>
              <a:t>atua como 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um </a:t>
            </a:r>
            <a:r>
              <a:rPr sz="2000" b="1" i="0" dirty="0" err="1">
                <a:solidFill>
                  <a:srgbClr val="FFFFFF"/>
                </a:solidFill>
                <a:latin typeface="Arial"/>
              </a:rPr>
              <a:t>assistente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 de </a:t>
            </a:r>
            <a:r>
              <a:rPr sz="2000" b="1" i="0" dirty="0" err="1">
                <a:solidFill>
                  <a:srgbClr val="FFFFFF"/>
                </a:solidFill>
                <a:latin typeface="Arial"/>
              </a:rPr>
              <a:t>decisão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 para </a:t>
            </a:r>
            <a:r>
              <a:rPr sz="2000" b="1" i="0" dirty="0" err="1">
                <a:solidFill>
                  <a:srgbClr val="FFFFFF"/>
                </a:solidFill>
                <a:latin typeface="Arial"/>
              </a:rPr>
              <a:t>logística</a:t>
            </a:r>
            <a:r>
              <a:rPr sz="2000" b="1" i="0" dirty="0">
                <a:solidFill>
                  <a:srgbClr val="FFFFFF"/>
                </a:solidFill>
                <a:latin typeface="Arial"/>
              </a:rPr>
              <a:t>, CX e CRM.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98480" y="201168"/>
            <a:ext cx="1051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2200" b="1" i="0">
                <a:solidFill>
                  <a:srgbClr val="ED145B"/>
                </a:solidFill>
                <a:latin typeface="Arial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3B3B3"/>
                </a:solidFill>
                <a:latin typeface="Arial"/>
              </a:rPr>
              <a:t>OLIST  ·  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B3B3B3"/>
                </a:solidFill>
                <a:latin typeface="Arial"/>
              </a:rPr>
              <a:t>5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QUATRO AGENTES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 dirty="0">
                <a:solidFill>
                  <a:srgbClr val="FFFFFF"/>
                </a:solidFill>
                <a:latin typeface="Arial"/>
              </a:rPr>
              <a:t>Eles </a:t>
            </a:r>
            <a:r>
              <a:rPr lang="pt-BR" sz="2200" b="1" i="0" dirty="0">
                <a:solidFill>
                  <a:srgbClr val="FFFFFF"/>
                </a:solidFill>
                <a:latin typeface="Arial"/>
              </a:rPr>
              <a:t>avaliam e 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se </a:t>
            </a:r>
            <a:r>
              <a:rPr lang="pt-BR" sz="2200" b="1" i="0" dirty="0">
                <a:solidFill>
                  <a:srgbClr val="FFFFFF"/>
                </a:solidFill>
                <a:latin typeface="Arial"/>
              </a:rPr>
              <a:t>conectam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. Pessoa </a:t>
            </a:r>
            <a:r>
              <a:rPr lang="pt-BR" sz="2200" b="1" i="0" dirty="0">
                <a:solidFill>
                  <a:srgbClr val="FFFFFF"/>
                </a:solidFill>
                <a:latin typeface="Arial"/>
              </a:rPr>
              <a:t>toma a decisão e executa</a:t>
            </a:r>
            <a:r>
              <a:rPr sz="2200" b="1" i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05840"/>
            <a:ext cx="2670048" cy="205740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005840"/>
            <a:ext cx="2670048" cy="381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" y="1133856"/>
            <a:ext cx="24140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D145B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371600"/>
            <a:ext cx="241401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Acompanhamento de Prazo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1993392"/>
            <a:ext cx="24140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LOGÍSTICA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231136"/>
            <a:ext cx="2414016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3B3B3"/>
                </a:solidFill>
                <a:latin typeface="Arial"/>
              </a:rPr>
              <a:t>Risco de atraso e uma ação. Dói mais no RJ e no Nordeste.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005840"/>
            <a:ext cx="2670048" cy="205740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1005840"/>
            <a:ext cx="2670048" cy="381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83864" y="1133856"/>
            <a:ext cx="24140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D145B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1371600"/>
            <a:ext cx="241401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Inteligência de Avaliações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1993392"/>
            <a:ext cx="24140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CX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3864" y="2231136"/>
            <a:ext cx="2414016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3B3B3"/>
                </a:solidFill>
                <a:latin typeface="Arial"/>
              </a:rPr>
              <a:t>Lê a nota e o texto, classifica a causa, rascunha resposta.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005840"/>
            <a:ext cx="2670048" cy="205740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1005840"/>
            <a:ext cx="2670048" cy="381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18504" y="1133856"/>
            <a:ext cx="24140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D145B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4" y="1371600"/>
            <a:ext cx="241401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Relacionamento e Recompra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1993392"/>
            <a:ext cx="24140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CRM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2231136"/>
            <a:ext cx="2414016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3B3B3"/>
                </a:solidFill>
                <a:latin typeface="Arial"/>
              </a:rPr>
              <a:t>Só convoca quem teve boa entrega e boa nota.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1005840"/>
            <a:ext cx="2670048" cy="205740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006840" y="1005840"/>
            <a:ext cx="2670048" cy="381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53144" y="1133856"/>
            <a:ext cx="24140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D145B"/>
                </a:solidFill>
                <a:latin typeface="Arial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53144" y="1371600"/>
            <a:ext cx="2414016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Exceções Operacionais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3144" y="1993392"/>
            <a:ext cx="2414016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OPERAÇÕES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144" y="2231136"/>
            <a:ext cx="2414016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B3B3B3"/>
                </a:solidFill>
                <a:latin typeface="Arial"/>
              </a:rPr>
              <a:t>Cancelado, indisponível, parado. Humano no financeiro.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24612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dirty="0">
                <a:solidFill>
                  <a:srgbClr val="ED145B"/>
                </a:solidFill>
                <a:latin typeface="Arial"/>
              </a:rPr>
              <a:t>COMO ELES SE </a:t>
            </a:r>
            <a:r>
              <a:rPr lang="pt-BR" sz="1100" b="1" i="0" dirty="0">
                <a:solidFill>
                  <a:srgbClr val="ED145B"/>
                </a:solidFill>
                <a:latin typeface="Arial"/>
              </a:rPr>
              <a:t>CONECTAM</a:t>
            </a:r>
            <a:endParaRPr sz="1100" b="1" i="0" dirty="0">
              <a:solidFill>
                <a:srgbClr val="ED145B"/>
              </a:solidFill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502920" y="3611880"/>
            <a:ext cx="2468880" cy="100584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2648" y="3721608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Avaliações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411480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3B3B3"/>
                </a:solidFill>
                <a:latin typeface="Arial"/>
              </a:rPr>
              <a:t>tema atraso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108960" y="4023360"/>
            <a:ext cx="292608" cy="146304"/>
          </a:xfrm>
          <a:prstGeom prst="rightArrow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80360" y="4224528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ED145B"/>
                </a:solidFill>
                <a:latin typeface="Arial"/>
              </a:rPr>
              <a:t>chama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20440" y="3611880"/>
            <a:ext cx="2468880" cy="100584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30168" y="3721608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Prazo / Logística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30168" y="411480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3B3B3"/>
                </a:solidFill>
                <a:latin typeface="Arial"/>
              </a:rPr>
              <a:t>atraso grave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6126480" y="4023360"/>
            <a:ext cx="292608" cy="146304"/>
          </a:xfrm>
          <a:prstGeom prst="rightArrow">
            <a:avLst/>
          </a:prstGeom>
          <a:solidFill>
            <a:srgbClr val="ED1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97880" y="4224528"/>
            <a:ext cx="822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 i="0">
                <a:solidFill>
                  <a:srgbClr val="ED145B"/>
                </a:solidFill>
                <a:latin typeface="Arial"/>
              </a:rPr>
              <a:t>chama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37960" y="3611880"/>
            <a:ext cx="2468880" cy="100584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47688" y="3721608"/>
            <a:ext cx="2286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Exceções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47688" y="411480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3B3B3"/>
                </a:solidFill>
                <a:latin typeface="Arial"/>
              </a:rPr>
              <a:t>fila priorizada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89720" y="3611880"/>
            <a:ext cx="2468880" cy="100584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D30F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99448" y="3721608"/>
            <a:ext cx="224942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Recompra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99448" y="4114800"/>
            <a:ext cx="2249424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 i="0">
                <a:solidFill>
                  <a:srgbClr val="B3B3B3"/>
                </a:solidFill>
                <a:latin typeface="Arial"/>
              </a:rPr>
              <a:t>só boa entrega e nota 4–5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4846320"/>
            <a:ext cx="110642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Review de atraso chama logística. Recompra não fala com quem foi mal atendido.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98480" y="201168"/>
            <a:ext cx="1051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2200" b="1" i="0">
                <a:solidFill>
                  <a:srgbClr val="ED145B"/>
                </a:solidFill>
                <a:latin typeface="Arial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3B3B3"/>
                </a:solidFill>
                <a:latin typeface="Arial"/>
              </a:rPr>
              <a:t>OLIST  ·  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B3B3B3"/>
                </a:solidFill>
                <a:latin typeface="Arial"/>
              </a:rPr>
              <a:t>6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ED145B"/>
                </a:solidFill>
                <a:latin typeface="Arial"/>
              </a:rPr>
              <a:t>IMPACTO ESPERADO E RISCOS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Ganho com régua. Risco com dono.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5156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23444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ED145B"/>
                </a:solidFill>
                <a:latin typeface="Arial"/>
              </a:rPr>
              <a:t>IMPACTO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737360"/>
            <a:ext cx="73152" cy="64008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1737360"/>
            <a:ext cx="46634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Menos nota 1 ligada a prazo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697480"/>
            <a:ext cx="73152" cy="64008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697480"/>
            <a:ext cx="46634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Reviews virando causa raiz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657600"/>
            <a:ext cx="73152" cy="64008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657600"/>
            <a:ext cx="46634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Início de segunda compra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617720"/>
            <a:ext cx="73152" cy="64008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617720"/>
            <a:ext cx="46634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Fila de exceção mais curta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051560"/>
            <a:ext cx="5486400" cy="507492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234440"/>
            <a:ext cx="4937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ED145B"/>
                </a:solidFill>
                <a:latin typeface="Arial"/>
              </a:rPr>
              <a:t>RISCOS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73736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Alarme falso de atraso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51460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Resposta automática em caso grave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291840"/>
            <a:ext cx="49377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Oferta para cliente irritado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160520"/>
            <a:ext cx="4937760" cy="1645920"/>
          </a:xfrm>
          <a:prstGeom prst="roundRect">
            <a:avLst>
              <a:gd name="adj" fmla="val 4000"/>
            </a:avLst>
          </a:prstGeom>
          <a:solidFill>
            <a:srgbClr val="000000"/>
          </a:solidFill>
          <a:ln w="15875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4343400"/>
            <a:ext cx="4572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Por isso o agente recomenda.
A pessoa executa.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698480" y="201168"/>
            <a:ext cx="1051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2200" b="1" i="0">
                <a:solidFill>
                  <a:srgbClr val="ED145B"/>
                </a:solidFill>
                <a:latin typeface="Arial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510528"/>
            <a:ext cx="1115568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 i="0">
                <a:solidFill>
                  <a:srgbClr val="B3B3B3"/>
                </a:solidFill>
                <a:latin typeface="Arial"/>
              </a:rPr>
              <a:t>OLIST  ·  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47104"/>
            <a:ext cx="2148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1" i="0">
                <a:solidFill>
                  <a:srgbClr val="B3B3B3"/>
                </a:solidFill>
                <a:latin typeface="Arial"/>
              </a:rPr>
              <a:t>7 /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 dirty="0">
                <a:solidFill>
                  <a:srgbClr val="ED145B"/>
                </a:solidFill>
                <a:latin typeface="Arial"/>
              </a:rPr>
              <a:t>PEDIDO À DIRETORIA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"/>
            <a:ext cx="10972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Arial"/>
              </a:rPr>
              <a:t>Validar </a:t>
            </a:r>
            <a:r>
              <a:rPr sz="2800" b="1" i="0" dirty="0" err="1">
                <a:solidFill>
                  <a:srgbClr val="FFFFFF"/>
                </a:solidFill>
                <a:latin typeface="Arial"/>
              </a:rPr>
              <a:t>estes</a:t>
            </a:r>
            <a:r>
              <a:rPr sz="28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i="0" dirty="0" err="1">
                <a:solidFill>
                  <a:srgbClr val="FFFFFF"/>
                </a:solidFill>
                <a:latin typeface="Arial"/>
              </a:rPr>
              <a:t>quatro</a:t>
            </a:r>
            <a:r>
              <a:rPr sz="28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i="0" dirty="0" err="1">
                <a:solidFill>
                  <a:srgbClr val="FFFFFF"/>
                </a:solidFill>
                <a:latin typeface="Arial"/>
              </a:rPr>
              <a:t>agentes</a:t>
            </a:r>
            <a:r>
              <a:rPr sz="2800" b="1" i="0" dirty="0">
                <a:solidFill>
                  <a:srgbClr val="FFFFFF"/>
                </a:solidFill>
                <a:latin typeface="Arial"/>
              </a:rPr>
              <a:t>
</a:t>
            </a:r>
            <a:r>
              <a:rPr sz="2800" b="1" i="0" dirty="0" err="1">
                <a:solidFill>
                  <a:srgbClr val="FFFFFF"/>
                </a:solidFill>
                <a:latin typeface="Arial"/>
              </a:rPr>
              <a:t>como</a:t>
            </a:r>
            <a:r>
              <a:rPr sz="28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i="0" dirty="0" err="1">
                <a:solidFill>
                  <a:srgbClr val="FFFFFF"/>
                </a:solidFill>
                <a:latin typeface="Arial"/>
              </a:rPr>
              <a:t>visão</a:t>
            </a:r>
            <a:r>
              <a:rPr sz="2800" b="1" i="0" dirty="0">
                <a:solidFill>
                  <a:srgbClr val="FFFFFF"/>
                </a:solidFill>
                <a:latin typeface="Arial"/>
              </a:rPr>
              <a:t> da </a:t>
            </a:r>
            <a:r>
              <a:rPr lang="pt-BR" sz="2800" b="1" i="0" dirty="0">
                <a:solidFill>
                  <a:srgbClr val="FFFFFF"/>
                </a:solidFill>
                <a:latin typeface="Arial"/>
              </a:rPr>
              <a:t>primeira fase</a:t>
            </a:r>
            <a:r>
              <a:rPr sz="2800" b="1" i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3584448" cy="196596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73152" cy="196596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737360"/>
            <a:ext cx="317296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D145B"/>
                </a:solidFill>
                <a:latin typeface="Arial"/>
              </a:rPr>
              <a:t>PRÓXIMA FASE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48840"/>
            <a:ext cx="3172968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 dirty="0" err="1">
                <a:solidFill>
                  <a:srgbClr val="FFFFFF"/>
                </a:solidFill>
                <a:latin typeface="Arial"/>
              </a:rPr>
              <a:t>Detalhar</a:t>
            </a:r>
            <a:r>
              <a:rPr sz="18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Arial"/>
              </a:rPr>
              <a:t>casos</a:t>
            </a:r>
            <a:r>
              <a:rPr sz="1800" b="1" i="0" dirty="0">
                <a:solidFill>
                  <a:srgbClr val="FFFFFF"/>
                </a:solidFill>
                <a:latin typeface="Arial"/>
              </a:rPr>
              <a:t> de </a:t>
            </a:r>
            <a:r>
              <a:rPr sz="1800" b="1" i="0" dirty="0" err="1">
                <a:solidFill>
                  <a:srgbClr val="FFFFFF"/>
                </a:solidFill>
                <a:latin typeface="Arial"/>
              </a:rPr>
              <a:t>uso</a:t>
            </a:r>
            <a:r>
              <a:rPr sz="1800" b="1" i="0" dirty="0">
                <a:solidFill>
                  <a:srgbClr val="FFFFFF"/>
                </a:solidFill>
                <a:latin typeface="Arial"/>
              </a:rPr>
              <a:t> e </a:t>
            </a:r>
            <a:r>
              <a:rPr sz="1800" b="1" i="0" dirty="0" err="1">
                <a:solidFill>
                  <a:srgbClr val="FFFFFF"/>
                </a:solidFill>
                <a:latin typeface="Arial"/>
              </a:rPr>
              <a:t>donos</a:t>
            </a:r>
            <a:r>
              <a:rPr sz="1800" b="1" i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554480"/>
            <a:ext cx="3584448" cy="196596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88536" y="1554480"/>
            <a:ext cx="73152" cy="196596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1737360"/>
            <a:ext cx="317296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D145B"/>
                </a:solidFill>
                <a:latin typeface="Arial"/>
              </a:rPr>
              <a:t>AGORA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148840"/>
            <a:ext cx="3172968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pt-BR" b="1" dirty="0">
                <a:solidFill>
                  <a:srgbClr val="FFFFFF"/>
                </a:solidFill>
                <a:latin typeface="Arial"/>
              </a:rPr>
              <a:t>Executar s</a:t>
            </a:r>
            <a:r>
              <a:rPr sz="1800" b="1" i="0" dirty="0" err="1">
                <a:solidFill>
                  <a:srgbClr val="FFFFFF"/>
                </a:solidFill>
                <a:latin typeface="Arial"/>
              </a:rPr>
              <a:t>em</a:t>
            </a:r>
            <a:r>
              <a:rPr sz="18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Arial"/>
              </a:rPr>
              <a:t>investir</a:t>
            </a:r>
            <a:r>
              <a:rPr sz="18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Arial"/>
              </a:rPr>
              <a:t>em</a:t>
            </a:r>
            <a:r>
              <a:rPr sz="18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FFFFFF"/>
                </a:solidFill>
                <a:latin typeface="Arial"/>
              </a:rPr>
              <a:t>plataforma</a:t>
            </a:r>
            <a:r>
              <a:rPr sz="1800" b="1" i="0" dirty="0">
                <a:solidFill>
                  <a:srgbClr val="FFFFFF"/>
                </a:solidFill>
                <a:latin typeface="Arial"/>
              </a:rPr>
              <a:t> grande.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1554480"/>
            <a:ext cx="3584448" cy="1965960"/>
          </a:xfrm>
          <a:prstGeom prst="roundRect">
            <a:avLst>
              <a:gd name="adj" fmla="val 4000"/>
            </a:avLst>
          </a:prstGeom>
          <a:solidFill>
            <a:srgbClr val="111111"/>
          </a:solidFill>
          <a:ln w="1587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74152" y="1554480"/>
            <a:ext cx="73152" cy="196596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0184" y="1737360"/>
            <a:ext cx="317296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ED145B"/>
                </a:solidFill>
                <a:latin typeface="Arial"/>
              </a:rPr>
              <a:t>RÉGUA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2148840"/>
            <a:ext cx="3172968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IA agêntica = clareza de problema, dono e instrução.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40480"/>
            <a:ext cx="1280160" cy="508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069080"/>
            <a:ext cx="1106424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Os dados da Olist já mostram por onde começar:
prazo, voz do cliente e recompra.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855</Words>
  <Application>Microsoft Office PowerPoint</Application>
  <PresentationFormat>Widescreen</PresentationFormat>
  <Paragraphs>133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Isabelle Menezes</cp:lastModifiedBy>
  <cp:revision>14</cp:revision>
  <dcterms:created xsi:type="dcterms:W3CDTF">2013-01-27T09:14:16Z</dcterms:created>
  <dcterms:modified xsi:type="dcterms:W3CDTF">2026-09-02T01:17:21Z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d24d9c5-38c1-495b-ab07-d4fc08626d86_Enabled">
    <vt:lpwstr>true</vt:lpwstr>
  </property>
  <property fmtid="{D5CDD505-2E9C-101B-9397-08002B2CF9AE}" pid="3" name="MSIP_Label_5d24d9c5-38c1-495b-ab07-d4fc08626d86_SetDate">
    <vt:lpwstr>2026-08-31T19:15:07Z</vt:lpwstr>
  </property>
  <property fmtid="{D5CDD505-2E9C-101B-9397-08002B2CF9AE}" pid="4" name="MSIP_Label_5d24d9c5-38c1-495b-ab07-d4fc08626d86_Method">
    <vt:lpwstr>Privileged</vt:lpwstr>
  </property>
  <property fmtid="{D5CDD505-2E9C-101B-9397-08002B2CF9AE}" pid="5" name="MSIP_Label_5d24d9c5-38c1-495b-ab07-d4fc08626d86_Name">
    <vt:lpwstr>Público</vt:lpwstr>
  </property>
  <property fmtid="{D5CDD505-2E9C-101B-9397-08002B2CF9AE}" pid="6" name="MSIP_Label_5d24d9c5-38c1-495b-ab07-d4fc08626d86_SiteId">
    <vt:lpwstr>05e665c9-c502-4a19-98a5-a913a6f52be8</vt:lpwstr>
  </property>
  <property fmtid="{D5CDD505-2E9C-101B-9397-08002B2CF9AE}" pid="7" name="MSIP_Label_5d24d9c5-38c1-495b-ab07-d4fc08626d86_ActionId">
    <vt:lpwstr>cd5a53a0-a623-453c-9274-9069bbbb3c80</vt:lpwstr>
  </property>
  <property fmtid="{D5CDD505-2E9C-101B-9397-08002B2CF9AE}" pid="8" name="MSIP_Label_5d24d9c5-38c1-495b-ab07-d4fc08626d86_ContentBits">
    <vt:lpwstr>0</vt:lpwstr>
  </property>
  <property fmtid="{D5CDD505-2E9C-101B-9397-08002B2CF9AE}" pid="9" name="MSIP_Label_5d24d9c5-38c1-495b-ab07-d4fc08626d86_Tag">
    <vt:lpwstr>50, 0, 1, 1</vt:lpwstr>
  </property>
</Properties>
</file>